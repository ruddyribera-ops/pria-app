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laspalm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82880"/>
            <a:ext cx="1828800" cy="6753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128016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E7D32"/>
                </a:solidFill>
                <a:latin typeface="Calibri"/>
              </a:rPr>
              <a:t>Unidad 3: ¡A la Aventura!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783080"/>
            <a:ext cx="8686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1A1A1A"/>
                </a:solidFill>
                <a:latin typeface="Impact"/>
              </a:rPr>
              <a:t>Los dos puntos y el punto y coma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3977639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25 de March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laspalm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73152"/>
            <a:ext cx="1143000" cy="4220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" y="3657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Misterruddy@laspalmas.edu.bo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34747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Impact"/>
              </a:rPr>
              <a:t>Objetivos de Aprendizaje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" y="1024128"/>
            <a:ext cx="4114800" cy="3566160"/>
          </a:xfrm>
          <a:prstGeom prst="rect">
            <a:avLst/>
          </a:prstGeom>
          <a:solidFill>
            <a:srgbClr val="F1F8E9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2395728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8855"/>
                </a:solidFill>
                <a:latin typeface="Calibri"/>
              </a:rPr>
              <a:t>🖼 Imagen sugerida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2944368"/>
            <a:ext cx="3931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779977"/>
                </a:solidFill>
                <a:latin typeface="Calibri"/>
              </a:rPr>
              <a:t>a 10-year-old boy studying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024128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1">
                <a:solidFill>
                  <a:srgbClr val="1B5E20"/>
                </a:solidFill>
                <a:latin typeface="Calibri"/>
              </a:rPr>
              <a:t>Hoy aprenderemos a…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536192"/>
            <a:ext cx="43891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• Diferenciar dos puntos del punto y coma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• Aplicar en enumeraciones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• Corregir textos con precisión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laspalm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73152"/>
            <a:ext cx="1143000" cy="4220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" y="3657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Misterruddy@laspalmas.edu.bo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34747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Impact"/>
              </a:rPr>
              <a:t>Los dos puntos (:)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" y="1024128"/>
            <a:ext cx="4114800" cy="3566160"/>
          </a:xfrm>
          <a:prstGeom prst="rect">
            <a:avLst/>
          </a:prstGeom>
          <a:solidFill>
            <a:srgbClr val="F1F8E9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2395728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8855"/>
                </a:solidFill>
                <a:latin typeface="Calibri"/>
              </a:rPr>
              <a:t>🖼 Imagen sugerida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2944368"/>
            <a:ext cx="3931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779977"/>
                </a:solidFill>
                <a:latin typeface="Calibri"/>
              </a:rPr>
              <a:t>colon punctuation mark on chalkboard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" y="3520440"/>
            <a:ext cx="4114800" cy="1024128"/>
          </a:xfrm>
          <a:prstGeom prst="rect">
            <a:avLst/>
          </a:prstGeom>
          <a:solidFill>
            <a:srgbClr val="FFE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3593592"/>
            <a:ext cx="3895344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A1A1A"/>
                </a:solidFill>
                <a:latin typeface="Calibri"/>
              </a:rPr>
              <a:t>Usa el ejemplo del libro pág. 9.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024128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Anuncian algo importante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267712"/>
            <a:ext cx="4389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• Pausa que avisa al lector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• Lo que sigue explica o enumera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laspalm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73152"/>
            <a:ext cx="1143000" cy="4220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" y="3657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Misterruddy@laspalmas.edu.bo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34747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Impact"/>
              </a:rPr>
              <a:t>Caso #1: Antes de una lista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" y="1024128"/>
            <a:ext cx="4114800" cy="3566160"/>
          </a:xfrm>
          <a:prstGeom prst="rect">
            <a:avLst/>
          </a:prstGeom>
          <a:solidFill>
            <a:srgbClr val="F1F8E9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2395728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8855"/>
                </a:solidFill>
                <a:latin typeface="Calibri"/>
              </a:rPr>
              <a:t>🖼 Imagen sugerida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2944368"/>
            <a:ext cx="3931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779977"/>
                </a:solidFill>
                <a:latin typeface="Calibri"/>
              </a:rPr>
              <a:t>scroll with a list of items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024128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1">
                <a:solidFill>
                  <a:srgbClr val="1A1A1A"/>
                </a:solidFill>
                <a:latin typeface="Calibri"/>
              </a:rPr>
              <a:t>Ejemplo: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417320"/>
            <a:ext cx="4389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En el patio hay animales: gallinas, ovejas y un burro.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8E6C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laspalm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73152"/>
            <a:ext cx="1143000" cy="4220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B5E20"/>
                </a:solidFill>
                <a:latin typeface="Impact"/>
              </a:rPr>
              <a:t>🏃 ¡Pausa Kinestésica!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1A1A"/>
                </a:solidFill>
                <a:latin typeface="Calibri"/>
              </a:rPr>
              <a:t>Levántense y representen un signo con el cuerpo.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laspalm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73152"/>
            <a:ext cx="1143000" cy="4220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" y="3657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Misterruddy@laspalmas.edu.bo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34747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A1A1A"/>
                </a:solidFill>
                <a:latin typeface="Impact"/>
              </a:rPr>
              <a:t>¡Actividades!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" y="1024128"/>
            <a:ext cx="4114800" cy="3566160"/>
          </a:xfrm>
          <a:prstGeom prst="rect">
            <a:avLst/>
          </a:prstGeom>
          <a:solidFill>
            <a:srgbClr val="F1F8E9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2395728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8855"/>
                </a:solidFill>
                <a:latin typeface="Calibri"/>
              </a:rPr>
              <a:t>🖼 Imagen sugerida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024128"/>
            <a:ext cx="4389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• Texto anillado pág. 22 y 23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• Libro Estudiante pág. 10 y 11</a:t>
            </a:r>
          </a:p>
          <a:p>
            <a:pPr>
              <a:spcBef>
                <a:spcPts val="300"/>
              </a:spcBef>
            </a:pPr>
            <a:r>
              <a:rPr b="1" sz="1500">
                <a:solidFill>
                  <a:srgbClr val="1A1A1A"/>
                </a:solidFill>
                <a:latin typeface="Calibri"/>
              </a:rPr>
              <a:t>Tarea:</a:t>
            </a:r>
            <a:r>
              <a:rPr sz="1500">
                <a:solidFill>
                  <a:srgbClr val="1A1A1A"/>
                </a:solidFill>
                <a:latin typeface="Calibri"/>
              </a:rPr>
              <a:t> 3 oraciones con : y 3 con 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laspalm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005840"/>
            <a:ext cx="2194560" cy="8103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B5E20"/>
                </a:solidFill>
                <a:latin typeface="Impact"/>
              </a:rPr>
              <a:t>¡Excelente trabajo hoy!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  <a:latin typeface="Calibri"/>
              </a:rPr>
              <a:t>Misterruddy@laspalmas.edu.bo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